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62" r:id="rId2"/>
    <p:sldId id="263" r:id="rId3"/>
    <p:sldId id="269" r:id="rId4"/>
    <p:sldId id="259" r:id="rId5"/>
    <p:sldId id="260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68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1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59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3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46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36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2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4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73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98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74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u/0/folders/1URBIDigw3x61_zgymSsy7HlOB9lJ34zB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84AF-65EE-9D3B-0013-40B1336AC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9520" y="2435014"/>
            <a:ext cx="6987795" cy="1646302"/>
          </a:xfrm>
        </p:spPr>
        <p:txBody>
          <a:bodyPr>
            <a:noAutofit/>
          </a:bodyPr>
          <a:lstStyle/>
          <a:p>
            <a:r>
              <a:rPr lang="en-US" sz="4000" b="1" dirty="0"/>
              <a:t>Smart Energy Consumption Analysis and Prediction Using Machine Learning</a:t>
            </a:r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- MOHAMED NABIL HUSSAIN Z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43470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4F583B-2873-E5AC-10D2-AA33248EF920}"/>
              </a:ext>
            </a:extLst>
          </p:cNvPr>
          <p:cNvSpPr txBox="1"/>
          <p:nvPr/>
        </p:nvSpPr>
        <p:spPr>
          <a:xfrm>
            <a:off x="207460" y="208554"/>
            <a:ext cx="7796981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IN" sz="2800" dirty="0"/>
              <a:t>TECHNOLOGIES USED</a:t>
            </a:r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TensorFlow / </a:t>
            </a:r>
            <a:r>
              <a:rPr lang="en-IN" sz="2000" b="1" dirty="0" err="1"/>
              <a:t>Keras</a:t>
            </a:r>
            <a:r>
              <a:rPr lang="en-IN" sz="2000" b="1" dirty="0"/>
              <a:t>-</a:t>
            </a:r>
            <a:r>
              <a:rPr lang="en-US" sz="2000" dirty="0"/>
              <a:t>Used to design, train, and deploy the LSTM deep learning model for energy consumption forecasting.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Flask-</a:t>
            </a:r>
            <a:r>
              <a:rPr lang="en-US" sz="2000" dirty="0"/>
              <a:t>A lightweight Python web framework used to integrate the ML model and serve predictions through a web application.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HTML-</a:t>
            </a:r>
            <a:r>
              <a:rPr lang="en-US" sz="2000" dirty="0"/>
              <a:t>Structures the web pages of the energy monitoring dashboard.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CSS-</a:t>
            </a:r>
            <a:r>
              <a:rPr lang="en-US" sz="2000" dirty="0"/>
              <a:t>Styles and layouts the dashboard for a clean and user-friendly interface.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JavaScript</a:t>
            </a:r>
            <a:r>
              <a:rPr lang="en-US" sz="2000" b="1" dirty="0"/>
              <a:t>– </a:t>
            </a:r>
            <a:r>
              <a:rPr lang="en-US" sz="2000" dirty="0"/>
              <a:t>Enables interactivity and communicates with Flask APIs for real-time predictions.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Pandas-</a:t>
            </a:r>
            <a:r>
              <a:rPr lang="en-US" sz="2000" dirty="0"/>
              <a:t>Handles data cleaning, preprocessing, feature engineering, and time-series manipulation.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NumPy-</a:t>
            </a:r>
            <a:r>
              <a:rPr lang="en-US" sz="2000" dirty="0"/>
              <a:t>Performs efficient numerical operations and array processing for ML computations.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Matplotlib-</a:t>
            </a:r>
            <a:r>
              <a:rPr lang="en-US" sz="2000" dirty="0"/>
              <a:t>Generates energy consumption visualizations such as hourly, daily, and device-wise charts.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  <a:defRPr sz="1800"/>
            </a:pPr>
            <a:r>
              <a:rPr lang="en-IN" sz="2000" b="1" dirty="0"/>
              <a:t>Scikit-learn-</a:t>
            </a:r>
            <a:r>
              <a:rPr lang="en-US" sz="2000" dirty="0"/>
              <a:t>Provides preprocessing tools, evaluation metrics, and the baseline Linear Regression model.</a:t>
            </a:r>
            <a:endParaRPr lang="en-IN" sz="2000" dirty="0"/>
          </a:p>
          <a:p>
            <a:pPr>
              <a:defRPr sz="1800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51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327511-27B7-5095-924D-4B03BFC4EC57}"/>
              </a:ext>
            </a:extLst>
          </p:cNvPr>
          <p:cNvSpPr txBox="1"/>
          <p:nvPr/>
        </p:nvSpPr>
        <p:spPr>
          <a:xfrm>
            <a:off x="579120" y="261372"/>
            <a:ext cx="78435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800"/>
            </a:pPr>
            <a:r>
              <a:rPr lang="en-US" sz="2800" b="1" dirty="0"/>
              <a:t>OVERVIEW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Collected dataset from Kaggle named (Home_C.csv)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 Cleaned data: handled missing values, timestamp gaps, and outliers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Converted timestamps to datetime and resampled (hourly/daily)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lang="en-US" sz="2000" dirty="0"/>
              <a:t>Engineered features: hour, weekday, weekend, lag (1/24/48), rolling averages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B5676-0F6E-84EB-BF9F-994C01D838EE}"/>
              </a:ext>
            </a:extLst>
          </p:cNvPr>
          <p:cNvSpPr txBox="1"/>
          <p:nvPr/>
        </p:nvSpPr>
        <p:spPr>
          <a:xfrm>
            <a:off x="680720" y="2595880"/>
            <a:ext cx="6502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OVERVIEW OF MODEL CREATION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80C1647-352C-FA1E-1229-6D0ED9CD3E21}"/>
              </a:ext>
            </a:extLst>
          </p:cNvPr>
          <p:cNvSpPr txBox="1">
            <a:spLocks/>
          </p:cNvSpPr>
          <p:nvPr/>
        </p:nvSpPr>
        <p:spPr>
          <a:xfrm>
            <a:off x="535940" y="3364538"/>
            <a:ext cx="7886700" cy="2339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800" b="1" dirty="0"/>
              <a:t>BASELINE MODEL(LINEAR REGRESSION):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Selected features such as previous hour usage, daily aggregates, device-level usage, and time-based features.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Normalized the features using </a:t>
            </a:r>
            <a:r>
              <a:rPr lang="en-US" altLang="en-US" sz="2000" b="1" dirty="0" err="1">
                <a:latin typeface="Arial" panose="020B0604020202020204" pitchFamily="34" charset="0"/>
              </a:rPr>
              <a:t>MinmaxScaler</a:t>
            </a:r>
            <a:r>
              <a:rPr lang="en-US" altLang="en-US" sz="2000" dirty="0">
                <a:latin typeface="Arial" panose="020B0604020202020204" pitchFamily="34" charset="0"/>
              </a:rPr>
              <a:t> to improve model stability.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Trained a </a:t>
            </a:r>
            <a:r>
              <a:rPr lang="en-US" altLang="en-US" sz="2000" b="1" dirty="0">
                <a:latin typeface="Arial" panose="020B0604020202020204" pitchFamily="34" charset="0"/>
              </a:rPr>
              <a:t>Linear Regression model</a:t>
            </a:r>
            <a:r>
              <a:rPr lang="en-US" altLang="en-US" sz="2000" dirty="0">
                <a:latin typeface="Arial" panose="020B0604020202020204" pitchFamily="34" charset="0"/>
              </a:rPr>
              <a:t> to predict </a:t>
            </a:r>
            <a:r>
              <a:rPr lang="en-US" altLang="en-US" sz="2000" i="1" dirty="0">
                <a:latin typeface="Arial" panose="020B0604020202020204" pitchFamily="34" charset="0"/>
              </a:rPr>
              <a:t>House overall feature</a:t>
            </a:r>
            <a:r>
              <a:rPr lang="en-US" altLang="en-US" sz="2000" dirty="0">
                <a:latin typeface="Arial" panose="020B0604020202020204" pitchFamily="34" charset="0"/>
              </a:rPr>
              <a:t> for the next hour.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84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A75F8-8572-04AB-80E8-D9316348965F}"/>
              </a:ext>
            </a:extLst>
          </p:cNvPr>
          <p:cNvSpPr txBox="1"/>
          <p:nvPr/>
        </p:nvSpPr>
        <p:spPr>
          <a:xfrm>
            <a:off x="545690" y="145051"/>
            <a:ext cx="80526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LSTM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Converted the dataset into </a:t>
            </a:r>
            <a:r>
              <a:rPr lang="en-US" sz="2000" b="1" dirty="0"/>
              <a:t>sequence windows</a:t>
            </a:r>
            <a:r>
              <a:rPr lang="en-US" sz="2000" dirty="0"/>
              <a:t> (lookback = 48 hours).</a:t>
            </a:r>
            <a:br>
              <a:rPr lang="en-US" sz="2000" dirty="0"/>
            </a:br>
            <a:r>
              <a:rPr lang="en-US" sz="2000" dirty="0"/>
              <a:t>Used </a:t>
            </a:r>
            <a:r>
              <a:rPr lang="en-US" sz="2000" b="1" dirty="0"/>
              <a:t>past 48 readings</a:t>
            </a:r>
            <a:r>
              <a:rPr lang="en-US" sz="2000" dirty="0"/>
              <a:t> as input to predict the </a:t>
            </a:r>
            <a:r>
              <a:rPr lang="en-US" sz="2000" b="1" dirty="0"/>
              <a:t>next hour’s usage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Defined an LSTM model with layers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LSTM(64)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LSTM(32)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Dense(1)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Applied </a:t>
            </a:r>
            <a:r>
              <a:rPr lang="en-US" sz="2000" b="1" dirty="0" err="1"/>
              <a:t>StandardScaler</a:t>
            </a:r>
            <a:r>
              <a:rPr lang="en-US" sz="2000" dirty="0"/>
              <a:t> on sequences to stabilize gradients.</a:t>
            </a:r>
            <a:br>
              <a:rPr lang="en-US" sz="2000" dirty="0"/>
            </a:br>
            <a:r>
              <a:rPr lang="en-US" sz="2000" dirty="0"/>
              <a:t>Compiled the model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Optimizer: Adam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Loss: MAE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Trained the LSTM model over multiple epochs and monitored loss curves.</a:t>
            </a:r>
            <a:br>
              <a:rPr lang="en-US" sz="2000" dirty="0"/>
            </a:br>
            <a:r>
              <a:rPr lang="en-US" sz="2000" dirty="0"/>
              <a:t>Compared its performance against the baseline LR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MODEL PERFORMANCE: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70DD0B-6D96-5503-1740-D53FF4D55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4" y="5700073"/>
            <a:ext cx="4785405" cy="101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42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8A6E7-22E5-70E6-FF41-BA35822BE104}"/>
              </a:ext>
            </a:extLst>
          </p:cNvPr>
          <p:cNvSpPr txBox="1"/>
          <p:nvPr/>
        </p:nvSpPr>
        <p:spPr>
          <a:xfrm>
            <a:off x="865239" y="167148"/>
            <a:ext cx="72168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/>
            </a:pPr>
            <a:r>
              <a:rPr lang="en-IN" sz="2800" b="1" dirty="0"/>
              <a:t>CORE FEATURES OF FLASK APP</a:t>
            </a:r>
          </a:p>
          <a:p>
            <a:pPr>
              <a:defRPr sz="1800"/>
            </a:pPr>
            <a:r>
              <a:rPr lang="en-IN" sz="2400" dirty="0"/>
              <a:t>• </a:t>
            </a:r>
            <a:r>
              <a:rPr lang="en-IN" sz="2000" dirty="0"/>
              <a:t>Real-time energy prediction via Flask API</a:t>
            </a:r>
          </a:p>
          <a:p>
            <a:pPr>
              <a:defRPr sz="1800"/>
            </a:pPr>
            <a:r>
              <a:rPr lang="en-IN" sz="2000" dirty="0"/>
              <a:t>• Device-wise forecasting and analytics</a:t>
            </a:r>
          </a:p>
          <a:p>
            <a:pPr>
              <a:defRPr sz="1800"/>
            </a:pPr>
            <a:r>
              <a:rPr lang="en-IN" sz="2000" dirty="0"/>
              <a:t>• Hourly/daily/weekly/monthly visualization dashboard</a:t>
            </a:r>
          </a:p>
          <a:p>
            <a:pPr>
              <a:defRPr sz="1800"/>
            </a:pPr>
            <a:r>
              <a:rPr lang="en-IN" sz="2000" dirty="0"/>
              <a:t>• Smart energy-saving suggestions 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68EBA-3F99-96A6-AF94-1F856E25DF3B}"/>
              </a:ext>
            </a:extLst>
          </p:cNvPr>
          <p:cNvSpPr txBox="1"/>
          <p:nvPr/>
        </p:nvSpPr>
        <p:spPr>
          <a:xfrm>
            <a:off x="865239" y="2084439"/>
            <a:ext cx="743318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/>
            </a:pPr>
            <a:r>
              <a:rPr lang="en-IN" sz="2800" b="1" dirty="0"/>
              <a:t>SYSTEM ARCHITECTURE</a:t>
            </a:r>
          </a:p>
          <a:p>
            <a:pPr>
              <a:defRPr sz="1800"/>
            </a:pPr>
            <a:endParaRPr lang="en-IN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381CAE9-B76A-1243-64F7-5D17454B099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45574" y="2744426"/>
            <a:ext cx="772815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Storage: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Saved LSTM model, scaler, and label encoder.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Loads models, accepts user input, regenerates features, predicts (1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/d</a:t>
            </a:r>
            <a:r>
              <a:rPr lang="en-US" altLang="en-US" sz="2000" dirty="0">
                <a:latin typeface="Arial" panose="020B0604020202020204" pitchFamily="34" charset="0"/>
              </a:rPr>
              <a:t>ay/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week / month), and generates charts + smart tips.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(HTML/CSS/JS):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UI with charts, device analytics, and prediction interface.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Flow: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enters reading → Flask processes → LSTM predicts</a:t>
            </a:r>
            <a:r>
              <a:rPr lang="en-US" altLang="en-US" sz="2000" dirty="0">
                <a:latin typeface="Arial" panose="020B0604020202020204" pitchFamily="34" charset="0"/>
              </a:rPr>
              <a:t> → Forecast energy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page </a:t>
            </a:r>
            <a:r>
              <a:rPr lang="en-US" altLang="en-US" sz="2000" dirty="0">
                <a:latin typeface="Arial" panose="020B0604020202020204" pitchFamily="34" charset="0"/>
              </a:rPr>
              <a:t>→ displays charts.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35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B0C18-6F45-8208-5AF0-A24F26281AA3}"/>
              </a:ext>
            </a:extLst>
          </p:cNvPr>
          <p:cNvSpPr txBox="1"/>
          <p:nvPr/>
        </p:nvSpPr>
        <p:spPr>
          <a:xfrm>
            <a:off x="742335" y="44459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IN" sz="2800" b="1" dirty="0"/>
              <a:t>FLASK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A86C1-ECA0-DFD8-FFC3-ECD02FCE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4" y="1101892"/>
            <a:ext cx="4572000" cy="20247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BF6EED-A2CC-95A1-4A54-DCF39D76A3CE}"/>
              </a:ext>
            </a:extLst>
          </p:cNvPr>
          <p:cNvSpPr txBox="1"/>
          <p:nvPr/>
        </p:nvSpPr>
        <p:spPr>
          <a:xfrm>
            <a:off x="5314335" y="1708666"/>
            <a:ext cx="3195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HOME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904013-0962-9E31-1AE9-9266A81912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894"/>
          <a:stretch>
            <a:fillRect/>
          </a:stretch>
        </p:blipFill>
        <p:spPr>
          <a:xfrm>
            <a:off x="4114799" y="3429000"/>
            <a:ext cx="4395019" cy="26571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2F5212-35ED-18E0-4517-32115C4EC356}"/>
              </a:ext>
            </a:extLst>
          </p:cNvPr>
          <p:cNvSpPr txBox="1"/>
          <p:nvPr/>
        </p:nvSpPr>
        <p:spPr>
          <a:xfrm>
            <a:off x="275303" y="4653427"/>
            <a:ext cx="3195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DASHBOARD PAGE</a:t>
            </a:r>
          </a:p>
          <a:p>
            <a:pPr algn="ctr"/>
            <a:r>
              <a:rPr lang="en-IN" sz="2000" b="1" dirty="0"/>
              <a:t>HOURLY CONSUMPTION </a:t>
            </a:r>
          </a:p>
        </p:txBody>
      </p:sp>
    </p:spTree>
    <p:extLst>
      <p:ext uri="{BB962C8B-B14F-4D97-AF65-F5344CB8AC3E}">
        <p14:creationId xmlns:p14="http://schemas.microsoft.com/office/powerpoint/2010/main" val="2341542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80D1981-B167-57B8-6B08-FE7490B1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4" y="4362524"/>
            <a:ext cx="5604388" cy="2215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891FB0-07D2-8CC9-8995-5B69F2278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31" y="162560"/>
            <a:ext cx="5125001" cy="23151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7A3C75-8E4C-F4EE-EC71-774C1B1FA176}"/>
              </a:ext>
            </a:extLst>
          </p:cNvPr>
          <p:cNvSpPr txBox="1"/>
          <p:nvPr/>
        </p:nvSpPr>
        <p:spPr>
          <a:xfrm>
            <a:off x="5496232" y="996978"/>
            <a:ext cx="3195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DASHBOARD PAGE</a:t>
            </a:r>
          </a:p>
          <a:p>
            <a:pPr algn="ctr"/>
            <a:r>
              <a:rPr lang="en-IN" sz="2000" b="1" dirty="0"/>
              <a:t>MONTHLY CONSUMPTION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C4F9D1-A8E1-60F4-8DE8-92FE03979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2580968"/>
            <a:ext cx="4689986" cy="18189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932D88-6A1E-C27B-BAB2-65C53455599F}"/>
              </a:ext>
            </a:extLst>
          </p:cNvPr>
          <p:cNvSpPr txBox="1"/>
          <p:nvPr/>
        </p:nvSpPr>
        <p:spPr>
          <a:xfrm>
            <a:off x="609601" y="3009039"/>
            <a:ext cx="31954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DASHBOARD PAGE</a:t>
            </a:r>
          </a:p>
          <a:p>
            <a:pPr algn="ctr"/>
            <a:r>
              <a:rPr lang="en-IN" sz="2000" b="1" dirty="0"/>
              <a:t>DEVICE WISE CONSUMPTION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FF3996-7F88-7EF6-DBFF-FDEA61C703A0}"/>
              </a:ext>
            </a:extLst>
          </p:cNvPr>
          <p:cNvSpPr txBox="1"/>
          <p:nvPr/>
        </p:nvSpPr>
        <p:spPr>
          <a:xfrm>
            <a:off x="5761703" y="5126526"/>
            <a:ext cx="3195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DASHBOARD PAGE</a:t>
            </a:r>
          </a:p>
          <a:p>
            <a:pPr algn="ctr"/>
            <a:r>
              <a:rPr lang="en-IN" sz="2000" b="1" dirty="0"/>
              <a:t>SMART SUGGESTIONS </a:t>
            </a:r>
          </a:p>
        </p:txBody>
      </p:sp>
    </p:spTree>
    <p:extLst>
      <p:ext uri="{BB962C8B-B14F-4D97-AF65-F5344CB8AC3E}">
        <p14:creationId xmlns:p14="http://schemas.microsoft.com/office/powerpoint/2010/main" val="128806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EABFC-A8C5-4DF3-47FB-44B137EBC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419" y="277849"/>
            <a:ext cx="5028301" cy="23739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CBD4CD-F145-CA4C-0E1B-212617F279F7}"/>
              </a:ext>
            </a:extLst>
          </p:cNvPr>
          <p:cNvSpPr txBox="1"/>
          <p:nvPr/>
        </p:nvSpPr>
        <p:spPr>
          <a:xfrm>
            <a:off x="4490720" y="4298059"/>
            <a:ext cx="3195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FORECAST PAGE</a:t>
            </a:r>
          </a:p>
          <a:p>
            <a:pPr algn="ctr"/>
            <a:r>
              <a:rPr lang="en-IN" sz="2000" b="1" dirty="0"/>
              <a:t>PREDICTION RESULT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9A562-8E66-66D6-338F-4741FD559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78" y="2459991"/>
            <a:ext cx="3464813" cy="38255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0DE976-1AA2-DADC-8527-3C882ADBB7D1}"/>
              </a:ext>
            </a:extLst>
          </p:cNvPr>
          <p:cNvSpPr txBox="1"/>
          <p:nvPr/>
        </p:nvSpPr>
        <p:spPr>
          <a:xfrm>
            <a:off x="487680" y="1294038"/>
            <a:ext cx="3195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FORECAST PAGE</a:t>
            </a:r>
          </a:p>
        </p:txBody>
      </p:sp>
    </p:spTree>
    <p:extLst>
      <p:ext uri="{BB962C8B-B14F-4D97-AF65-F5344CB8AC3E}">
        <p14:creationId xmlns:p14="http://schemas.microsoft.com/office/powerpoint/2010/main" val="3933717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70B08D-AE56-F487-0BFD-D34BAFEFA11A}"/>
              </a:ext>
            </a:extLst>
          </p:cNvPr>
          <p:cNvSpPr txBox="1"/>
          <p:nvPr/>
        </p:nvSpPr>
        <p:spPr>
          <a:xfrm>
            <a:off x="878676" y="739542"/>
            <a:ext cx="6614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IN" sz="3200" b="1" dirty="0"/>
              <a:t>FUTURE ENHANCEMENTS</a:t>
            </a:r>
          </a:p>
          <a:p>
            <a:pPr>
              <a:defRPr sz="1800"/>
            </a:pPr>
            <a:r>
              <a:rPr lang="en-IN" sz="3200" dirty="0"/>
              <a:t>• Cloud deployment </a:t>
            </a:r>
          </a:p>
          <a:p>
            <a:pPr>
              <a:defRPr sz="1800"/>
            </a:pPr>
            <a:r>
              <a:rPr lang="en-IN" sz="3200" dirty="0"/>
              <a:t>• Live IoT sensor integration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6A51D-56B5-F614-3DC8-E237A2A1A94A}"/>
              </a:ext>
            </a:extLst>
          </p:cNvPr>
          <p:cNvSpPr txBox="1"/>
          <p:nvPr/>
        </p:nvSpPr>
        <p:spPr>
          <a:xfrm>
            <a:off x="878676" y="290578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lang="en-IN" sz="2800" b="1" dirty="0"/>
              <a:t>VIDEO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28F1EC-8D3B-DED6-4824-56B933115CFA}"/>
              </a:ext>
            </a:extLst>
          </p:cNvPr>
          <p:cNvSpPr txBox="1"/>
          <p:nvPr/>
        </p:nvSpPr>
        <p:spPr>
          <a:xfrm>
            <a:off x="672199" y="3656246"/>
            <a:ext cx="8117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https://drive.google.com/drive/u/0/folders/1URBIDigw3x61_zgymSsy7HlOB9lJ34zB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86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92E31-D07B-44F0-C18C-9C5D1C712E0A}"/>
              </a:ext>
            </a:extLst>
          </p:cNvPr>
          <p:cNvSpPr txBox="1"/>
          <p:nvPr/>
        </p:nvSpPr>
        <p:spPr>
          <a:xfrm>
            <a:off x="1508760" y="2721114"/>
            <a:ext cx="6126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012221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114</TotalTime>
  <Words>533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Retrospect</vt:lpstr>
      <vt:lpstr>Smart Energy Consumption Analysis and Prediction Using Machine Learning  - MOHAMED NABIL HUSSAIN 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Nabil</dc:creator>
  <cp:keywords/>
  <dc:description>generated using python-pptx</dc:description>
  <cp:lastModifiedBy>Mohamed Nabil Hussain Z</cp:lastModifiedBy>
  <cp:revision>3</cp:revision>
  <dcterms:created xsi:type="dcterms:W3CDTF">2013-01-27T09:14:16Z</dcterms:created>
  <dcterms:modified xsi:type="dcterms:W3CDTF">2026-01-17T15:21:00Z</dcterms:modified>
  <cp:category/>
</cp:coreProperties>
</file>